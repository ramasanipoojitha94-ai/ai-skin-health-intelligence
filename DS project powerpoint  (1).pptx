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3"/>
  </p:notesMasterIdLst>
  <p:handoutMasterIdLst>
    <p:handoutMasterId r:id="rId24"/>
  </p:handoutMasterIdLst>
  <p:sldIdLst>
    <p:sldId id="507" r:id="rId2"/>
    <p:sldId id="1027" r:id="rId3"/>
    <p:sldId id="1012" r:id="rId4"/>
    <p:sldId id="1013" r:id="rId5"/>
    <p:sldId id="1014" r:id="rId6"/>
    <p:sldId id="1015" r:id="rId7"/>
    <p:sldId id="1034" r:id="rId8"/>
    <p:sldId id="1036" r:id="rId9"/>
    <p:sldId id="1037" r:id="rId10"/>
    <p:sldId id="1011" r:id="rId11"/>
    <p:sldId id="1026" r:id="rId12"/>
    <p:sldId id="1033" r:id="rId13"/>
    <p:sldId id="1038" r:id="rId14"/>
    <p:sldId id="1044" r:id="rId15"/>
    <p:sldId id="1045" r:id="rId16"/>
    <p:sldId id="1041" r:id="rId17"/>
    <p:sldId id="1025" r:id="rId18"/>
    <p:sldId id="1042" r:id="rId19"/>
    <p:sldId id="1043" r:id="rId20"/>
    <p:sldId id="1035" r:id="rId21"/>
    <p:sldId id="1046" r:id="rId2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668C5-F8FF-420C-9EA8-D26DAE5B0AD7}" v="2" dt="2026-09-24T17:24:30.286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5"/>
  </p:normalViewPr>
  <p:slideViewPr>
    <p:cSldViewPr snapToGrid="0">
      <p:cViewPr>
        <p:scale>
          <a:sx n="115" d="100"/>
          <a:sy n="115" d="100"/>
        </p:scale>
        <p:origin x="376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4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Team Members: 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algn="just">
              <a:defRPr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1. Mesa Dhanushya           - 2411021060545</a:t>
            </a:r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  <a:p>
            <a:pPr lvl="1" algn="just">
              <a:defRPr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2.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IN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SallagundlaYaswanth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   - 2411021060495</a:t>
            </a:r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lvl="1" algn="just">
              <a:defRPr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3. </a:t>
            </a:r>
            <a:r>
              <a:rPr lang="en-IN" sz="26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Ramasani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n-IN" sz="26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Poojitha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      - 2411021060490</a:t>
            </a:r>
          </a:p>
          <a:p>
            <a:pPr lvl="1" algn="just">
              <a:defRPr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4. Varij Nayan                  - 2411021060478</a:t>
            </a:r>
          </a:p>
          <a:p>
            <a:pPr lvl="1" algn="just"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Name of the Mentor: 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Dr.T.Prasanth</a:t>
            </a:r>
            <a:endParaRPr lang="en-IN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/>
              </a:rPr>
              <a:t>E1CSA313/E1ITA306 Design Project -1 </a:t>
            </a:r>
          </a:p>
          <a:p>
            <a:endParaRPr lang="en-IN" dirty="0"/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234008" y="784718"/>
            <a:ext cx="6346663" cy="7491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defRPr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Early Skin Health Intelligence and Risk-Aware Clinical Decision Support</a:t>
            </a:r>
          </a:p>
          <a:p>
            <a:pPr fontAlgn="auto">
              <a:spcAft>
                <a:spcPts val="0"/>
              </a:spcAft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500"/>
              </a:spcAft>
              <a:buAutoNum type="arabicPeriod"/>
            </a:pPr>
            <a:r>
              <a:rPr sz="1600"/>
              <a:t>• Introduction</a:t>
            </a:r>
          </a:p>
          <a:p>
            <a:pPr>
              <a:spcAft>
                <a:spcPts val="500"/>
              </a:spcAft>
            </a:pPr>
            <a:r>
              <a:rPr sz="1600"/>
              <a:t>• Literature Review</a:t>
            </a:r>
          </a:p>
          <a:p>
            <a:pPr>
              <a:spcAft>
                <a:spcPts val="500"/>
              </a:spcAft>
            </a:pPr>
            <a:r>
              <a:rPr sz="1600"/>
              <a:t>• Observations &amp; Limitations</a:t>
            </a:r>
          </a:p>
          <a:p>
            <a:pPr>
              <a:spcAft>
                <a:spcPts val="500"/>
              </a:spcAft>
            </a:pPr>
            <a:r>
              <a:rPr sz="1600"/>
              <a:t>• Problem Statement &amp; Scope</a:t>
            </a:r>
          </a:p>
          <a:p>
            <a:pPr>
              <a:spcAft>
                <a:spcPts val="500"/>
              </a:spcAft>
            </a:pPr>
            <a:r>
              <a:rPr sz="1600"/>
              <a:t>• Proposed Solution &amp; Objectives</a:t>
            </a:r>
          </a:p>
          <a:p>
            <a:pPr>
              <a:spcAft>
                <a:spcPts val="500"/>
              </a:spcAft>
            </a:pPr>
            <a:r>
              <a:rPr sz="1600"/>
              <a:t>• Methodology</a:t>
            </a:r>
          </a:p>
          <a:p>
            <a:pPr>
              <a:spcAft>
                <a:spcPts val="500"/>
              </a:spcAft>
            </a:pPr>
            <a:r>
              <a:rPr sz="1600"/>
              <a:t>• Requirements</a:t>
            </a:r>
          </a:p>
          <a:p>
            <a:pPr>
              <a:spcAft>
                <a:spcPts val="500"/>
              </a:spcAft>
            </a:pPr>
            <a:r>
              <a:rPr sz="1600"/>
              <a:t>• Experimentation</a:t>
            </a:r>
          </a:p>
          <a:p>
            <a:pPr>
              <a:spcAft>
                <a:spcPts val="500"/>
              </a:spcAft>
            </a:pPr>
            <a:r>
              <a:rPr sz="1600"/>
              <a:t>• Results &amp; Discussion</a:t>
            </a:r>
          </a:p>
          <a:p>
            <a:pPr>
              <a:spcAft>
                <a:spcPts val="500"/>
              </a:spcAft>
            </a:pPr>
            <a:r>
              <a:rPr sz="1600"/>
              <a:t>• Conclusion &amp; Future Directions</a:t>
            </a:r>
          </a:p>
          <a:p>
            <a:pPr>
              <a:spcAft>
                <a:spcPts val="500"/>
              </a:spcAft>
            </a:pPr>
            <a:r>
              <a:rPr sz="1600"/>
              <a:t>• References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0487" y="211898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946" y="1044021"/>
            <a:ext cx="11257280" cy="5320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1800"/>
              <a:t>• AI-based early skin-health screening</a:t>
            </a:r>
          </a:p>
          <a:p>
            <a:pPr>
              <a:spcAft>
                <a:spcPts val="500"/>
              </a:spcAft>
            </a:pPr>
            <a:r>
              <a:rPr sz="1800"/>
              <a:t>• Analyzes skin images and health data</a:t>
            </a:r>
          </a:p>
          <a:p>
            <a:pPr>
              <a:spcAft>
                <a:spcPts val="500"/>
              </a:spcAft>
            </a:pPr>
            <a:r>
              <a:rPr sz="1800"/>
              <a:t>• Identifies potential abnormalities early</a:t>
            </a:r>
          </a:p>
          <a:p>
            <a:pPr>
              <a:spcAft>
                <a:spcPts val="500"/>
              </a:spcAft>
            </a:pPr>
            <a:r>
              <a:rPr sz="1800"/>
              <a:t>• Provides risk-aware decision support</a:t>
            </a:r>
          </a:p>
          <a:p>
            <a:pPr>
              <a:spcAft>
                <a:spcPts val="500"/>
              </a:spcAft>
            </a:pPr>
            <a:r>
              <a:rPr sz="1800"/>
              <a:t>• Supports clinicians — does not replace them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249768"/>
              </p:ext>
            </p:extLst>
          </p:nvPr>
        </p:nvGraphicFramePr>
        <p:xfrm>
          <a:off x="609600" y="880463"/>
          <a:ext cx="11287326" cy="5931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034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96791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63734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49016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3669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68054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7900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S.No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Publication Year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Research/ Methodology 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10418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1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</a:t>
                      </a:r>
                      <a:r>
                        <a:rPr lang="en-IN" sz="1600" kern="0" dirty="0">
                          <a:effectLst/>
                        </a:rPr>
                        <a:t>P. Papachristou et al.,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British Journal of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Dermatology,2024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</a:t>
                      </a:r>
                      <a:r>
                        <a:rPr lang="en-IN" sz="1600" kern="0" dirty="0">
                          <a:effectLst/>
                        </a:rPr>
                        <a:t>AI smartphone app; </a:t>
                      </a:r>
                      <a:r>
                        <a:rPr lang="en-IN" sz="1600" kern="0" dirty="0" err="1">
                          <a:effectLst/>
                        </a:rPr>
                        <a:t>dermoscopy</a:t>
                      </a:r>
                      <a:r>
                        <a:rPr lang="en-IN" sz="1600" kern="0" dirty="0">
                          <a:effectLst/>
                        </a:rPr>
                        <a:t>; prospective multicentre clinical study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</a:t>
                      </a:r>
                      <a:r>
                        <a:rPr lang="en-IN" sz="1600" dirty="0"/>
                        <a:t>AUROC 0.960;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Sensitivity 95.2%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Specificity 84.5%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</a:t>
                      </a:r>
                      <a:r>
                        <a:rPr lang="en-IN" sz="1600" kern="0" dirty="0">
                          <a:effectLst/>
                        </a:rPr>
                        <a:t>Real-patient study;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Clinical decision support; early melanoma detection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Mainly melanoma-focused; limited confirmed melanoma cases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80369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2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</a:t>
                      </a:r>
                      <a:r>
                        <a:rPr lang="en-IN" sz="1600" kern="0" dirty="0">
                          <a:effectLst/>
                        </a:rPr>
                        <a:t>A. </a:t>
                      </a:r>
                      <a:r>
                        <a:rPr lang="en-IN" sz="1600" kern="0" dirty="0" err="1">
                          <a:effectLst/>
                        </a:rPr>
                        <a:t>Escalé</a:t>
                      </a:r>
                      <a:r>
                        <a:rPr lang="en-IN" sz="1600" kern="0" dirty="0">
                          <a:effectLst/>
                        </a:rPr>
                        <a:t>-Besa et al.,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Healthcare,2024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</a:t>
                      </a:r>
                      <a:r>
                        <a:rPr lang="en-IN" sz="1600" kern="0" dirty="0">
                          <a:effectLst/>
                        </a:rPr>
                        <a:t>Systemic review; PRISMA; AI skin-disease diagnosis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</a:t>
                      </a:r>
                      <a:r>
                        <a:rPr lang="en-IN" sz="1600" kern="0" dirty="0">
                          <a:effectLst/>
                        </a:rPr>
                        <a:t>Sensitivity 58-96.1%; Accuracy 0.41-0.93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</a:t>
                      </a:r>
                      <a:r>
                        <a:rPr lang="en-IN" sz="1600" kern="0" dirty="0">
                          <a:effectLst/>
                        </a:rPr>
                        <a:t>Covers multiple diseases; primary-care application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 Heterogeneous Studies; limited </a:t>
                      </a:r>
                      <a:r>
                        <a:rPr lang="en-IN" sz="1600" kern="1200" dirty="0" err="1">
                          <a:effectLst/>
                        </a:rPr>
                        <a:t>representive</a:t>
                      </a:r>
                      <a:r>
                        <a:rPr lang="en-IN" sz="1600" kern="1200" dirty="0">
                          <a:effectLst/>
                        </a:rPr>
                        <a:t> datasets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10418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3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M. Groh et al., Nature Medicine, 2024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Deep-learning decision support; multiple skin tones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&gt;33% improvement with AI assistance; 364 images; 46 diseases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Doctor-AI collaboration; skin-tone analysis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 Remaining skin-tone performance gap; simulated setting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  <a:tr h="10418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L. Heinlein et al., Communications Medicine,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ADAE ensemble CNN; </a:t>
                      </a:r>
                      <a:r>
                        <a:rPr lang="en-US" sz="1600" kern="0" dirty="0" err="1">
                          <a:effectLst/>
                        </a:rPr>
                        <a:t>dermoscopic</a:t>
                      </a:r>
                      <a:r>
                        <a:rPr lang="en-US" sz="1600" kern="0" dirty="0">
                          <a:effectLst/>
                        </a:rPr>
                        <a:t> images; 8 hospitals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Balanced accuracy 79.8%; Sensitivity 92.1%; Specificity 67.3%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 Real-world data; diverse cameras and melanoma types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kern="1200" dirty="0">
                          <a:effectLst/>
                        </a:rPr>
                        <a:t> Lower specificity; performance varies by lesion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544530"/>
                  </a:ext>
                </a:extLst>
              </a:tr>
              <a:tr h="11179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5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Zhou et al., Nature Communications,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SkinGPT-4; vision transformer + Llama-2; multimodal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52,929 images; evaluated on 150 real-life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Interactive diagnosis; combines image +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Complex model; requires further clinical validation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7264466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1B53F3-540A-8282-CDE9-91C7F1D75B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500"/>
              </a:spcAft>
            </a:pPr>
            <a:r>
              <a:rPr sz="1800"/>
              <a:t>• AI supports early lesion identification</a:t>
            </a:r>
          </a:p>
          <a:p>
            <a:pPr>
              <a:spcAft>
                <a:spcPts val="500"/>
              </a:spcAft>
            </a:pPr>
            <a:r>
              <a:rPr sz="1800"/>
              <a:t>• Deep learning shows strong potential</a:t>
            </a:r>
          </a:p>
          <a:p>
            <a:pPr>
              <a:spcAft>
                <a:spcPts val="500"/>
              </a:spcAft>
            </a:pPr>
            <a:r>
              <a:rPr sz="1800"/>
              <a:t>• Clinical testing is important</a:t>
            </a:r>
          </a:p>
          <a:p>
            <a:pPr>
              <a:spcAft>
                <a:spcPts val="500"/>
              </a:spcAft>
            </a:pPr>
            <a:r>
              <a:rPr sz="1800"/>
              <a:t>• Performance depends on skin tone &amp; image quality</a:t>
            </a:r>
          </a:p>
          <a:p>
            <a:pPr>
              <a:spcAft>
                <a:spcPts val="500"/>
              </a:spcAft>
            </a:pPr>
            <a:r>
              <a:rPr sz="1800"/>
              <a:t>• Research is moving toward risk-aware decision support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spcAft>
                <a:spcPts val="500"/>
              </a:spcAft>
            </a:pPr>
            <a:r>
              <a:rPr sz="1800"/>
              <a:t>• Limited dataset diversity</a:t>
            </a:r>
          </a:p>
          <a:p>
            <a:pPr>
              <a:spcAft>
                <a:spcPts val="500"/>
              </a:spcAft>
            </a:pPr>
            <a:r>
              <a:rPr sz="1800"/>
              <a:t>• Focus on melanoma / selected diseases</a:t>
            </a:r>
          </a:p>
          <a:p>
            <a:pPr>
              <a:spcAft>
                <a:spcPts val="500"/>
              </a:spcAft>
            </a:pPr>
            <a:r>
              <a:rPr sz="1800"/>
              <a:t>• Image quality affects performance</a:t>
            </a:r>
          </a:p>
          <a:p>
            <a:pPr>
              <a:spcAft>
                <a:spcPts val="500"/>
              </a:spcAft>
            </a:pPr>
            <a:r>
              <a:rPr sz="1800"/>
              <a:t>• Limited real-world clinical validation</a:t>
            </a:r>
          </a:p>
          <a:p>
            <a:pPr>
              <a:spcAft>
                <a:spcPts val="500"/>
              </a:spcAft>
            </a:pPr>
            <a:r>
              <a:rPr sz="1800"/>
              <a:t>• AI cannot replace professional diagnosis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1600"/>
              <a:t>Problem:</a:t>
            </a:r>
          </a:p>
          <a:p>
            <a:pPr>
              <a:spcAft>
                <a:spcPts val="500"/>
              </a:spcAft>
            </a:pPr>
            <a:r>
              <a:rPr sz="1600"/>
              <a:t>• Self-medication can delay proper treatment</a:t>
            </a:r>
          </a:p>
          <a:p>
            <a:pPr>
              <a:spcAft>
                <a:spcPts val="500"/>
              </a:spcAft>
            </a:pPr>
            <a:r>
              <a:rPr sz="1600"/>
              <a:t>• Limited access to dermatology in some areas</a:t>
            </a:r>
          </a:p>
          <a:p>
            <a:pPr>
              <a:spcAft>
                <a:spcPts val="500"/>
              </a:spcAft>
            </a:pPr>
            <a:r>
              <a:rPr sz="1600"/>
              <a:t>• Existing systems often focus only on classification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600"/>
              <a:t>Scope:</a:t>
            </a:r>
          </a:p>
          <a:p>
            <a:pPr>
              <a:spcAft>
                <a:spcPts val="500"/>
              </a:spcAft>
            </a:pPr>
            <a:r>
              <a:rPr sz="1600"/>
              <a:t>• Analyze images + symptoms</a:t>
            </a:r>
          </a:p>
          <a:p>
            <a:pPr>
              <a:spcAft>
                <a:spcPts val="500"/>
              </a:spcAft>
            </a:pPr>
            <a:r>
              <a:rPr sz="1600"/>
              <a:t>• Classify selected conditions</a:t>
            </a:r>
          </a:p>
          <a:p>
            <a:pPr>
              <a:spcAft>
                <a:spcPts val="500"/>
              </a:spcAft>
            </a:pPr>
            <a:r>
              <a:rPr sz="1600"/>
              <a:t>• Estimate risk &amp; confidence</a:t>
            </a:r>
          </a:p>
          <a:p>
            <a:pPr>
              <a:spcAft>
                <a:spcPts val="500"/>
              </a:spcAft>
            </a:pPr>
            <a:r>
              <a:rPr sz="1600"/>
              <a:t>• Track changes and provide guidance</a:t>
            </a:r>
          </a:p>
          <a:p>
            <a:pPr>
              <a:spcAft>
                <a:spcPts val="500"/>
              </a:spcAft>
            </a:pPr>
            <a:r>
              <a:rPr sz="1600"/>
              <a:t>• Recommend professional consultation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1800"/>
              <a:t>• Web-based AI skin-health platform</a:t>
            </a:r>
          </a:p>
          <a:p>
            <a:pPr>
              <a:spcAft>
                <a:spcPts val="500"/>
              </a:spcAft>
            </a:pPr>
            <a:r>
              <a:rPr sz="1800"/>
              <a:t>• Upload skin image + enter symptoms</a:t>
            </a:r>
          </a:p>
          <a:p>
            <a:pPr>
              <a:spcAft>
                <a:spcPts val="500"/>
              </a:spcAft>
            </a:pPr>
            <a:r>
              <a:rPr sz="1800"/>
              <a:t>• Detect possible conditions</a:t>
            </a:r>
          </a:p>
          <a:p>
            <a:pPr>
              <a:spcAft>
                <a:spcPts val="500"/>
              </a:spcAft>
            </a:pPr>
            <a:r>
              <a:rPr sz="1800"/>
              <a:t>• Generate confidence score &amp; risk level</a:t>
            </a:r>
          </a:p>
          <a:p>
            <a:pPr>
              <a:spcAft>
                <a:spcPts val="500"/>
              </a:spcAft>
            </a:pPr>
            <a:r>
              <a:rPr sz="1800"/>
              <a:t>• Track changes over time</a:t>
            </a:r>
          </a:p>
          <a:p>
            <a:pPr>
              <a:spcAft>
                <a:spcPts val="500"/>
              </a:spcAft>
            </a:pPr>
            <a:r>
              <a:rPr sz="1800"/>
              <a:t>• Provide preventive guidance</a:t>
            </a:r>
          </a:p>
          <a:p>
            <a:pPr>
              <a:spcAft>
                <a:spcPts val="500"/>
              </a:spcAft>
            </a:pPr>
            <a:r>
              <a:rPr sz="1800"/>
              <a:t>• Recommend professional consultation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500"/>
              </a:spcAft>
              <a:defRPr/>
            </a:pPr>
            <a:r>
              <a:rPr sz="1800"/>
              <a:t>• Detect selected skin conditions early</a:t>
            </a:r>
          </a:p>
          <a:p>
            <a:pPr>
              <a:spcAft>
                <a:spcPts val="500"/>
              </a:spcAft>
            </a:pPr>
            <a:r>
              <a:rPr sz="1800"/>
              <a:t>• Compare suitable AI/ML models</a:t>
            </a:r>
          </a:p>
          <a:p>
            <a:pPr>
              <a:spcAft>
                <a:spcPts val="500"/>
              </a:spcAft>
            </a:pPr>
            <a:r>
              <a:rPr sz="1800"/>
              <a:t>• Generate confidence &amp; risk scores</a:t>
            </a:r>
          </a:p>
          <a:p>
            <a:pPr>
              <a:spcAft>
                <a:spcPts val="500"/>
              </a:spcAft>
            </a:pPr>
            <a:r>
              <a:rPr sz="1800"/>
              <a:t>• Provide preventive guidance</a:t>
            </a:r>
          </a:p>
          <a:p>
            <a:pPr>
              <a:spcAft>
                <a:spcPts val="500"/>
              </a:spcAft>
            </a:pPr>
            <a:r>
              <a:rPr sz="1800"/>
              <a:t>• Support timely professional consultation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spcAft>
                <a:spcPts val="500"/>
              </a:spcAft>
            </a:pPr>
            <a:r>
              <a:rPr sz="1800"/>
              <a:t>1. Dataset preparation</a:t>
            </a:r>
            <a:endParaRPr lang="en-IN" sz="2400" b="1" dirty="0"/>
          </a:p>
          <a:p>
            <a:pPr>
              <a:spcAft>
                <a:spcPts val="500"/>
              </a:spcAft>
            </a:pPr>
            <a:r>
              <a:rPr sz="1800"/>
              <a:t>2. Image preprocessing</a:t>
            </a:r>
          </a:p>
          <a:p>
            <a:pPr>
              <a:spcAft>
                <a:spcPts val="500"/>
              </a:spcAft>
            </a:pPr>
            <a:r>
              <a:rPr sz="1800"/>
              <a:t>3. AI/ML model development</a:t>
            </a:r>
          </a:p>
          <a:p>
            <a:pPr>
              <a:spcAft>
                <a:spcPts val="500"/>
              </a:spcAft>
            </a:pPr>
            <a:r>
              <a:rPr sz="1800"/>
              <a:t>4. Risk assessment &amp; decision support</a:t>
            </a:r>
          </a:p>
          <a:p>
            <a:pPr>
              <a:spcAft>
                <a:spcPts val="500"/>
              </a:spcAft>
            </a:pPr>
            <a:r>
              <a:rPr sz="1800"/>
              <a:t>5. Preventive guidance &amp; monitoring</a:t>
            </a:r>
          </a:p>
          <a:p>
            <a:pPr>
              <a:spcAft>
                <a:spcPts val="500"/>
              </a:spcAft>
            </a:pPr>
            <a:r>
              <a:rPr sz="1800"/>
              <a:t>6. System evaluation &amp; validation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500"/>
              </a:spcAft>
              <a:buNone/>
            </a:pPr>
            <a:r>
              <a:rPr sz="1800"/>
              <a:t>• Processor: Intel i5 / Ryzen 5 or above</a:t>
            </a:r>
          </a:p>
          <a:p>
            <a:pPr>
              <a:spcAft>
                <a:spcPts val="500"/>
              </a:spcAft>
            </a:pPr>
            <a:r>
              <a:rPr sz="1800"/>
              <a:t>• RAM: 8 GB minimum</a:t>
            </a:r>
          </a:p>
          <a:p>
            <a:pPr>
              <a:spcAft>
                <a:spcPts val="500"/>
              </a:spcAft>
            </a:pPr>
            <a:r>
              <a:rPr sz="1800"/>
              <a:t>• Storage: 256 GB SSD minimum</a:t>
            </a:r>
          </a:p>
          <a:p>
            <a:pPr>
              <a:spcAft>
                <a:spcPts val="500"/>
              </a:spcAft>
            </a:pPr>
            <a:r>
              <a:rPr sz="1800"/>
              <a:t>• GPU: Optional; recommended for training</a:t>
            </a:r>
          </a:p>
          <a:p>
            <a:pPr>
              <a:spcAft>
                <a:spcPts val="500"/>
              </a:spcAft>
            </a:pPr>
            <a:r>
              <a:rPr sz="1800"/>
              <a:t>• Camera: 12 MP</a:t>
            </a:r>
          </a:p>
          <a:p>
            <a:pPr>
              <a:spcAft>
                <a:spcPts val="500"/>
              </a:spcAft>
            </a:pPr>
            <a:r>
              <a:rPr sz="1800"/>
              <a:t>• Internet: Required for web/cloud services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500"/>
              </a:spcAft>
              <a:buNone/>
            </a:pPr>
            <a:r>
              <a:rPr sz="1800"/>
              <a:t>• OS: Windows 10/11 or Linux</a:t>
            </a:r>
          </a:p>
          <a:p>
            <a:pPr>
              <a:spcAft>
                <a:spcPts val="500"/>
              </a:spcAft>
            </a:pPr>
            <a:r>
              <a:rPr sz="1800"/>
              <a:t>• Python 3.10+</a:t>
            </a:r>
          </a:p>
          <a:p>
            <a:pPr>
              <a:spcAft>
                <a:spcPts val="500"/>
              </a:spcAft>
            </a:pPr>
            <a:r>
              <a:rPr sz="1800"/>
              <a:t>• TensorFlow / Keras, Scikit-learn</a:t>
            </a:r>
          </a:p>
          <a:p>
            <a:pPr>
              <a:spcAft>
                <a:spcPts val="500"/>
              </a:spcAft>
            </a:pPr>
            <a:r>
              <a:rPr sz="1800"/>
              <a:t>• OpenCV, Pillow</a:t>
            </a:r>
          </a:p>
          <a:p>
            <a:pPr>
              <a:spcAft>
                <a:spcPts val="500"/>
              </a:spcAft>
            </a:pPr>
            <a:r>
              <a:rPr sz="1800"/>
              <a:t>• Flask</a:t>
            </a:r>
          </a:p>
          <a:p>
            <a:pPr>
              <a:spcAft>
                <a:spcPts val="500"/>
              </a:spcAft>
            </a:pPr>
            <a:r>
              <a:rPr sz="1800"/>
              <a:t>• HTML, CSS, JavaScript</a:t>
            </a:r>
          </a:p>
          <a:p>
            <a:pPr>
              <a:spcAft>
                <a:spcPts val="500"/>
              </a:spcAft>
            </a:pPr>
            <a:r>
              <a:rPr sz="1800"/>
              <a:t>• MySQL / SQLite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Image +</a:t>
            </a:r>
            <a:br/>
            <a:r>
              <a:rPr sz="1700" b="1"/>
              <a:t>Symptoms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2032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Preprocess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2584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AI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3136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Risk +</a:t>
            </a:r>
            <a:br/>
            <a:r>
              <a:rPr sz="1700" b="1"/>
              <a:t>Confidence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2743200"/>
            <a:ext cx="196596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/>
              <a:t>Guidance /</a:t>
            </a:r>
            <a:br/>
            <a:r>
              <a:rPr sz="1700" b="1"/>
              <a:t>Consultation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3268980.0"/>
            <a:ext cx="164592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07992" y="3268980.0"/>
            <a:ext cx="164592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38544" y="3268980.0"/>
            <a:ext cx="164592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69096" y="3268980.0"/>
            <a:ext cx="164592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1605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Simple end-to-end workflow for AI-assisted skin-health screening</a:t>
            </a:r>
          </a:p>
        </p:txBody>
      </p:sp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500"/>
              </a:spcAft>
            </a:pPr>
            <a:r>
              <a:rPr sz="1800"/>
              <a:t>• Collect selected skin-condition images</a:t>
            </a:r>
          </a:p>
          <a:p>
            <a:pPr>
              <a:spcAft>
                <a:spcPts val="500"/>
              </a:spcAft>
            </a:pPr>
            <a:r>
              <a:rPr sz="1800"/>
              <a:t>• Preprocess: resize, normalize, augment</a:t>
            </a:r>
          </a:p>
          <a:p>
            <a:pPr>
              <a:spcAft>
                <a:spcPts val="500"/>
              </a:spcAft>
            </a:pPr>
            <a:r>
              <a:rPr sz="1800"/>
              <a:t>• Train &amp; compare CNN, ResNet, EfficientNet</a:t>
            </a:r>
          </a:p>
          <a:p>
            <a:pPr>
              <a:spcAft>
                <a:spcPts val="500"/>
              </a:spcAft>
            </a:pPr>
            <a:r>
              <a:rPr sz="1800"/>
              <a:t>• Test on unseen images</a:t>
            </a:r>
          </a:p>
          <a:p>
            <a:pPr>
              <a:spcAft>
                <a:spcPts val="500"/>
              </a:spcAft>
            </a:pPr>
            <a:r>
              <a:rPr sz="1800"/>
              <a:t>• Generate prediction, confidence &amp; risk</a:t>
            </a:r>
          </a:p>
          <a:p>
            <a:pPr>
              <a:spcAft>
                <a:spcPts val="500"/>
              </a:spcAft>
            </a:pPr>
            <a:r>
              <a:rPr sz="1800"/>
              <a:t>• Evaluate Accuracy, Precision, Recall &amp; F1-score</a:t>
            </a:r>
          </a:p>
          <a:p>
            <a:pPr>
              <a:spcAft>
                <a:spcPts val="500"/>
              </a:spcAft>
            </a:pPr>
            <a:r>
              <a:rPr sz="1800"/>
              <a:t>• Integrate model into Flask application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500"/>
              </a:spcAft>
            </a:pPr>
            <a:r>
              <a:rPr sz="1800"/>
              <a:t>• AI can identify selected skin conditions</a:t>
            </a:r>
          </a:p>
          <a:p>
            <a:pPr>
              <a:spcAft>
                <a:spcPts val="500"/>
              </a:spcAft>
            </a:pPr>
            <a:r>
              <a:rPr sz="1800"/>
              <a:t>• Produces confidence score &amp; risk level</a:t>
            </a:r>
          </a:p>
          <a:p>
            <a:pPr>
              <a:spcAft>
                <a:spcPts val="500"/>
              </a:spcAft>
            </a:pPr>
            <a:r>
              <a:rPr sz="1800"/>
              <a:t>• Preprocessing improves consistency</a:t>
            </a:r>
          </a:p>
          <a:p>
            <a:pPr>
              <a:spcAft>
                <a:spcPts val="500"/>
              </a:spcAft>
            </a:pPr>
            <a:r>
              <a:rPr sz="1800"/>
              <a:t>• Provides preventive guidance</a:t>
            </a:r>
          </a:p>
          <a:p>
            <a:pPr>
              <a:spcAft>
                <a:spcPts val="500"/>
              </a:spcAft>
            </a:pPr>
            <a:r>
              <a:rPr sz="1800"/>
              <a:t>• Recommends consultation for higher-risk cases</a:t>
            </a:r>
          </a:p>
          <a:p>
            <a:pPr>
              <a:spcAft>
                <a:spcPts val="500"/>
              </a:spcAft>
            </a:pPr>
            <a:r>
              <a:rPr sz="1800"/>
              <a:t>• Performance measured using standard metrics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6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71" y="970157"/>
            <a:ext cx="10466281" cy="553780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spcAft>
                <a:spcPts val="500"/>
              </a:spcAft>
              <a:buNone/>
            </a:pPr>
            <a:r>
              <a:rPr sz="1600"/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</a:pPr>
            <a:r>
              <a:rPr sz="1600"/>
              <a:t>• AI supports early skin-health assessment</a:t>
            </a:r>
          </a:p>
          <a:p>
            <a:pPr>
              <a:spcAft>
                <a:spcPts val="500"/>
              </a:spcAft>
            </a:pPr>
            <a:r>
              <a:rPr sz="1600"/>
              <a:t>• Provides prediction, confidence &amp; risk level</a:t>
            </a:r>
          </a:p>
          <a:p>
            <a:pPr>
              <a:spcAft>
                <a:spcPts val="500"/>
              </a:spcAft>
            </a:pPr>
            <a:r>
              <a:rPr sz="1600"/>
              <a:t>• Offers preventive guidance</a:t>
            </a:r>
          </a:p>
          <a:p>
            <a:pPr>
              <a:spcAft>
                <a:spcPts val="500"/>
              </a:spcAft>
            </a:pPr>
            <a:r>
              <a:rPr sz="1600"/>
              <a:t>• Supports — not replaces — dermatologists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600"/>
              <a:t>Future</a:t>
            </a:r>
          </a:p>
          <a:p>
            <a:pPr>
              <a:spcAft>
                <a:spcPts val="500"/>
              </a:spcAft>
            </a:pPr>
            <a:r>
              <a:rPr sz="1600"/>
              <a:t>• More diverse datasets</a:t>
            </a:r>
          </a:p>
          <a:p>
            <a:pPr>
              <a:spcAft>
                <a:spcPts val="500"/>
              </a:spcAft>
            </a:pPr>
            <a:r>
              <a:rPr sz="1600"/>
              <a:t>• More skin conditions</a:t>
            </a:r>
          </a:p>
          <a:p>
            <a:pPr>
              <a:spcAft>
                <a:spcPts val="500"/>
              </a:spcAft>
            </a:pPr>
            <a:r>
              <a:rPr sz="1600"/>
              <a:t>• Better multimodal AI</a:t>
            </a:r>
          </a:p>
          <a:p>
            <a:pPr>
              <a:spcAft>
                <a:spcPts val="500"/>
              </a:spcAft>
            </a:pPr>
            <a:r>
              <a:rPr sz="1600"/>
              <a:t>• Continuous monitoring</a:t>
            </a:r>
          </a:p>
          <a:p>
            <a:pPr>
              <a:spcAft>
                <a:spcPts val="500"/>
              </a:spcAft>
            </a:pPr>
            <a:r>
              <a:rPr sz="1600"/>
              <a:t>• Telemedicine integration</a:t>
            </a:r>
          </a:p>
          <a:p>
            <a:pPr>
              <a:spcAft>
                <a:spcPts val="500"/>
              </a:spcAft>
            </a:pPr>
            <a:r>
              <a:rPr sz="1600"/>
              <a:t>• Real-world clinical validation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7833"/>
            <a:ext cx="10972800" cy="5223154"/>
          </a:xfrm>
        </p:spPr>
        <p:txBody>
          <a:bodyPr vert="horz" lIns="91440" tIns="45720" rIns="91440" bIns="45720" rtlCol="0" anchor="t">
            <a:normAutofit fontScale="32500" lnSpcReduction="20000"/>
          </a:bodyPr>
          <a:lstStyle/>
          <a:p>
            <a:pPr marL="0" lvl="0" indent="0" algn="just">
              <a:lnSpc>
                <a:spcPct val="150000"/>
              </a:lnSpc>
              <a:spcAft>
                <a:spcPts val="800"/>
              </a:spcAft>
              <a:buNone/>
              <a:defRPr sz="1400"/>
            </a:pPr>
            <a:r>
              <a:t>1. Papachristou, P., et al. (2024). Evaluation of an artificial intelligence-based decision support for the detection of cutaneous melanoma in primary care: A prospective real-life clinical trial. British Journal of Dermatology, 191(1), 125–133. DOI: 10.1093/bjd/ljae021</a:t>
            </a:r>
          </a:p>
          <a:p>
            <a:pPr>
              <a:spcAft>
                <a:spcPts val="800"/>
              </a:spcAft>
              <a:defRPr sz="1400"/>
            </a:pPr>
            <a:r>
              <a:t>2. Escalé-Besa, A., Vidal-Alaball, J., Miró Catalina, Q., et al. (2024). The use of artificial intelligence for skin disease diagnosis in primary care settings: A systematic review. Healthcare, 12(12), 1192. DOI: 10.3390/healthcare12121192</a:t>
            </a:r>
          </a:p>
          <a:p>
            <a:pPr>
              <a:spcAft>
                <a:spcPts val="800"/>
              </a:spcAft>
              <a:defRPr sz="1400"/>
            </a:pPr>
            <a:r>
              <a:t>3. Groh, M., Badri, O., Daneshjou, R., et al. (2024). Deep learning-aided decision support for diagnosis of skin disease across skin tones. Nature Medicine, 30, 573–583. DOI: 10.1038/s41591-023-02728-3</a:t>
            </a:r>
          </a:p>
          <a:p>
            <a:pPr>
              <a:spcAft>
                <a:spcPts val="800"/>
              </a:spcAft>
              <a:defRPr sz="1400"/>
            </a:pPr>
            <a:r>
              <a:t>4. Heinlein, L., Maron, R. C., Hekler, A., et al. (2024). Prospective multicenter study using artificial intelligence to improve dermoscopic melanoma diagnosis in patient care. Communications Medicine, 4, 177. DOI: 10.1038/s43856-024-00598-5</a:t>
            </a:r>
          </a:p>
          <a:p>
            <a:pPr>
              <a:spcAft>
                <a:spcPts val="800"/>
              </a:spcAft>
              <a:defRPr sz="1400"/>
            </a:pPr>
            <a:r>
              <a:t>5. Zhou, J., He, X., Sun, L., et al. (2024). Pre-trained multimodal large language model enhances dermatological diagnosis using SkinGPT-4. Nature Communications, 15, 5649. DOI: 10.1038/s41467-024-50043-3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Load trained model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tf.keras.models.load_model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("skin_model.h5")</a:t>
            </a:r>
          </a:p>
          <a:p>
            <a:pPr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Preprocess image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uploaded_file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).resize((224, 224))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(image) / 255.0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np.expand_dims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(image, axis=0)</a:t>
            </a:r>
          </a:p>
          <a:p>
            <a:pPr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Predict condition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(image)</a:t>
            </a:r>
          </a:p>
          <a:p>
            <a:pPr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= classes[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np.argmax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(prediction)]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np.max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(prediction) * 100</a:t>
            </a:r>
          </a:p>
          <a:p>
            <a:pPr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Risk assessment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confidence &gt;= 85: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risk = "High"</a:t>
            </a:r>
          </a:p>
          <a:p>
            <a:pPr>
              <a:buNone/>
            </a:pP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confidence &gt;= 60: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risk = "Moderate"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risk = "Low"</a:t>
            </a:r>
          </a:p>
          <a:p>
            <a:pPr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print("Condition:", condition)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print("Confidence:", round(confidence, 2), "%")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print("Risk Level:", risk)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(Sample of the Source Code)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3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 Page of the Paper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7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5E9D07-F228-5A8F-4725-F52FE433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820" y="274637"/>
            <a:ext cx="10489580" cy="4286211"/>
          </a:xfrm>
        </p:spPr>
        <p:txBody>
          <a:bodyPr>
            <a:noAutofit/>
          </a:bodyPr>
          <a:lstStyle/>
          <a:p>
            <a:r>
              <a:rPr lang="en-US" sz="8000" dirty="0"/>
              <a:t>THANKYOU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BA7E14-A23C-3EF4-4C29-C6503E5A68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901825"/>
            <a:ext cx="10972800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</a:t>
            </a:r>
            <a:endParaRPr lang="en-US" sz="8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1389</TotalTime>
  <Words>2043</Words>
  <Application>Microsoft Macintosh PowerPoint</Application>
  <PresentationFormat>Widescreen</PresentationFormat>
  <Paragraphs>203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Bookman Old Style</vt:lpstr>
      <vt:lpstr>Calibri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Experimentation</vt:lpstr>
      <vt:lpstr> Results and Discussion</vt:lpstr>
      <vt:lpstr> Conclusion &amp; Future Directions</vt:lpstr>
      <vt:lpstr> References  </vt:lpstr>
      <vt:lpstr>   Implementation (Sample of the Source Code) </vt:lpstr>
      <vt:lpstr>   Submission Page of the Paper </vt:lpstr>
      <vt:lpstr>  Plagiarism Report 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T RITHIKA SREE</cp:lastModifiedBy>
  <cp:revision>22</cp:revision>
  <cp:lastPrinted>2020-11-26T03:04:06Z</cp:lastPrinted>
  <dcterms:created xsi:type="dcterms:W3CDTF">2008-12-05T06:42:08Z</dcterms:created>
  <dcterms:modified xsi:type="dcterms:W3CDTF">2026-09-26T06:35:18Z</dcterms:modified>
</cp:coreProperties>
</file>